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erplexity.ai" TargetMode="External"/><Relationship Id="rId3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AF8F5"/>
                </a:solidFill>
                <a:latin typeface="Verdana"/>
              </a:rPr>
              <a:t>Interactive PPTX,</a:t>
            </a:r>
          </a:p>
          <a:p>
            <a:pPr algn="l"/>
            <a:r>
              <a:rPr sz="4400" b="1">
                <a:solidFill>
                  <a:srgbClr val="FAF8F5"/>
                </a:solidFill>
                <a:latin typeface="Verdana"/>
              </a:rPr>
              <a:t>rendered in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AB0B0"/>
                </a:solidFill>
                <a:latin typeface="Verdana"/>
              </a:rPr>
              <a:t>Animations, transitions and links preserved.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703320"/>
            <a:ext cx="2011680" cy="50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1B2D"/>
                </a:solidFill>
                <a:latin typeface="Verdana"/>
              </a:rPr>
              <a:t>Build order, one click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400" b="0">
                <a:solidFill>
                  <a:srgbClr val="6B7485"/>
                </a:solidFill>
                <a:latin typeface="Verdana"/>
              </a:rPr>
              <a:t>Each bullet is its own animation step</a:t>
            </a:r>
          </a:p>
          <a:p>
            <a:pPr algn="l">
              <a:spcAft>
                <a:spcPts val="1800"/>
              </a:spcAft>
            </a:pPr>
            <a:r>
              <a:rPr sz="2400" b="0">
                <a:solidFill>
                  <a:srgbClr val="6B7485"/>
                </a:solidFill>
                <a:latin typeface="Verdana"/>
              </a:rPr>
              <a:t>Driven by p:bldLst and paragraph targets</a:t>
            </a:r>
          </a:p>
          <a:p>
            <a:pPr algn="l">
              <a:spcAft>
                <a:spcPts val="1800"/>
              </a:spcAft>
            </a:pPr>
            <a:r>
              <a:rPr sz="2400" b="0">
                <a:solidFill>
                  <a:srgbClr val="6B7485"/>
                </a:solidFill>
                <a:latin typeface="Verdana"/>
              </a:rPr>
              <a:t>Click, arrow keys or space to advance</a:t>
            </a:r>
          </a:p>
          <a:p>
            <a:pPr algn="l">
              <a:spcAft>
                <a:spcPts val="1800"/>
              </a:spcAft>
            </a:pPr>
            <a:r>
              <a:rPr sz="2400" b="0">
                <a:solidFill>
                  <a:srgbClr val="6B7485"/>
                </a:solidFill>
                <a:latin typeface="Verdana"/>
              </a:rPr>
              <a:t>Exit animations are supported too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4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4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1B2D"/>
                </a:solidFill>
                <a:latin typeface="Verdana"/>
              </a:rPr>
              <a:t>Zoom, spin and emphasis</a:t>
            </a:r>
          </a:p>
        </p:txBody>
      </p:sp>
      <p:sp>
        <p:nvSpPr>
          <p:cNvPr id="4" name="Oval 3"/>
          <p:cNvSpPr/>
          <p:nvPr/>
        </p:nvSpPr>
        <p:spPr>
          <a:xfrm>
            <a:off x="1280160" y="2377440"/>
            <a:ext cx="1920240" cy="192024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AF8F5"/>
                </a:solidFill>
              </a:rPr>
              <a:t>1</a:t>
            </a:r>
          </a:p>
        </p:txBody>
      </p:sp>
      <p:sp>
        <p:nvSpPr>
          <p:cNvPr id="5" name="Diamond 4"/>
          <p:cNvSpPr/>
          <p:nvPr/>
        </p:nvSpPr>
        <p:spPr>
          <a:xfrm>
            <a:off x="3931920" y="2377440"/>
            <a:ext cx="1920240" cy="1920240"/>
          </a:xfrm>
          <a:prstGeom prst="diamond">
            <a:avLst/>
          </a:prstGeom>
          <a:solidFill>
            <a:srgbClr val="D96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AF8F5"/>
                </a:solidFill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79" y="2377440"/>
            <a:ext cx="1920240" cy="1920240"/>
          </a:xfrm>
          <a:prstGeom prst="round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AF8F5"/>
                </a:solidFill>
              </a:rPr>
              <a:t>3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9235440" y="2377440"/>
            <a:ext cx="1920240" cy="1920240"/>
          </a:xfrm>
          <a:prstGeom prst="triangl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AF8F5"/>
                </a:solidFill>
              </a:rPr>
              <a:t>4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8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Rot by="21600000">
                                      <p:cBhvr>
                                        <p:cTn id="1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3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600" fill="hold"/>
                                        <p:tgtEl>
                                          <p:spTgt spid="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8" presetClass="emph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15" dur="600" fill="hold"/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1B2D"/>
                </a:solidFill>
                <a:latin typeface="Verdana"/>
              </a:rPr>
              <a:t>Links and click actions stay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E8B8B"/>
                </a:solidFill>
                <a:latin typeface="Verdana"/>
                <a:hlinkClick r:id="rId2"/>
              </a:rPr>
              <a:t>Open perplexity.ai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14400" y="3017520"/>
            <a:ext cx="3108960" cy="914400"/>
          </a:xfrm>
          <a:prstGeom prst="round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FAF8F5"/>
                </a:solidFill>
              </a:rPr>
              <a:t>Jump to slide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485"/>
                </a:solidFill>
                <a:latin typeface="Verdana"/>
              </a:rPr>
              <a:t>Shape click actions, text hyperlinks and slide jumps are</a:t>
            </a:r>
          </a:p>
          <a:p>
            <a:pPr algn="l"/>
            <a:r>
              <a:rPr sz="1800" b="0">
                <a:solidFill>
                  <a:srgbClr val="6B7485"/>
                </a:solidFill>
                <a:latin typeface="Verdana"/>
              </a:rPr>
              <a:t>forwarded to the host page as events.</a:t>
            </a:r>
          </a:p>
        </p:txBody>
      </p:sp>
    </p:spTree>
  </p:cSld>
  <p:clrMapOvr>
    <a:masterClrMapping/>
  </p:clrMapOvr>
  <p:transition spd="med">
    <p:split orient="vert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1B2D"/>
                </a:solidFill>
                <a:latin typeface="Verdana"/>
              </a:rPr>
              <a:t>Exit animations and tables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920240"/>
          <a:ext cx="6858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Notes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/>
                        <a:t>Entrance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fade, wipe, fly, zoom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/>
                        <a:t>Transitions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fade, push, wipe, split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/>
                        <a:t>Hyperlinks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URL + slide jump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2103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96E3F"/>
                </a:solidFill>
                <a:latin typeface="Verdana"/>
              </a:rPr>
              <a:t>This box exits</a:t>
            </a:r>
          </a:p>
          <a:p>
            <a:pPr algn="l"/>
            <a:r>
              <a:rPr sz="1800" b="0">
                <a:solidFill>
                  <a:srgbClr val="D96E3F"/>
                </a:solidFill>
                <a:latin typeface="Verdana"/>
              </a:rPr>
              <a:t>on the next click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17" dur="4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